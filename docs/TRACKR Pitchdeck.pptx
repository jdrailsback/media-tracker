
<file path=[Content_Types].xml><?xml version="1.0" encoding="utf-8"?>
<Types xmlns="http://schemas.openxmlformats.org/package/2006/content-types">
  <Default Extension="666666666667,100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2" r:id="rId6"/>
    <p:sldId id="261" r:id="rId7"/>
    <p:sldId id="263" r:id="rId8"/>
    <p:sldId id="264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0C12"/>
    <a:srgbClr val="7689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8BF5CA-026A-4C4A-8FBD-39510499F4B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AB7BB1CF-FEE2-41C6-9127-47A6A4D1D6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tx1"/>
              </a:solidFill>
            </a:rPr>
            <a:t>FOLLOW ANYTHING: choose your favorite tv shows, movies, video games, and more and keep up to date with all new releases with ease</a:t>
          </a:r>
        </a:p>
      </dgm:t>
    </dgm:pt>
    <dgm:pt modelId="{D7637F74-BD4F-4B1D-8DCB-10FF95515778}" type="parTrans" cxnId="{71967BCA-8AC7-450B-B826-2D11134EB72C}">
      <dgm:prSet/>
      <dgm:spPr/>
      <dgm:t>
        <a:bodyPr/>
        <a:lstStyle/>
        <a:p>
          <a:endParaRPr lang="en-US"/>
        </a:p>
      </dgm:t>
    </dgm:pt>
    <dgm:pt modelId="{3DC178BB-17AF-4E63-AC67-972225CE6986}" type="sibTrans" cxnId="{71967BCA-8AC7-450B-B826-2D11134EB72C}">
      <dgm:prSet/>
      <dgm:spPr/>
      <dgm:t>
        <a:bodyPr/>
        <a:lstStyle/>
        <a:p>
          <a:endParaRPr lang="en-US"/>
        </a:p>
      </dgm:t>
    </dgm:pt>
    <dgm:pt modelId="{B21388B4-2BF5-4879-A0A9-1AFAB7F4EB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tx1"/>
              </a:solidFill>
            </a:rPr>
            <a:t>DISCOVER MORE: explore to see what’s new, or something you may have missed from years ago</a:t>
          </a:r>
        </a:p>
      </dgm:t>
    </dgm:pt>
    <dgm:pt modelId="{D42E57B0-3EE7-45D5-8418-3CCED033100D}" type="parTrans" cxnId="{DC95C647-4341-4E03-A6E9-193C266081AF}">
      <dgm:prSet/>
      <dgm:spPr/>
      <dgm:t>
        <a:bodyPr/>
        <a:lstStyle/>
        <a:p>
          <a:endParaRPr lang="en-US"/>
        </a:p>
      </dgm:t>
    </dgm:pt>
    <dgm:pt modelId="{E8A8F015-3C4D-471C-B1CF-3F57E2E8BEB3}" type="sibTrans" cxnId="{DC95C647-4341-4E03-A6E9-193C266081AF}">
      <dgm:prSet/>
      <dgm:spPr/>
      <dgm:t>
        <a:bodyPr/>
        <a:lstStyle/>
        <a:p>
          <a:endParaRPr lang="en-US"/>
        </a:p>
      </dgm:t>
    </dgm:pt>
    <dgm:pt modelId="{64E1D5B0-B20A-4064-80ED-C1DE53623A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tx1"/>
              </a:solidFill>
            </a:rPr>
            <a:t>FORM YOUR DUGOUT: add any items to your watchlist and line up what you looking to do next</a:t>
          </a:r>
        </a:p>
      </dgm:t>
    </dgm:pt>
    <dgm:pt modelId="{C39C775C-8543-4001-8761-4A53C909A753}" type="parTrans" cxnId="{69492986-E9A8-48B2-A746-06EF880A20C2}">
      <dgm:prSet/>
      <dgm:spPr/>
      <dgm:t>
        <a:bodyPr/>
        <a:lstStyle/>
        <a:p>
          <a:endParaRPr lang="en-US"/>
        </a:p>
      </dgm:t>
    </dgm:pt>
    <dgm:pt modelId="{5B361B1A-691F-48CC-9FDA-4B5B4DB4A161}" type="sibTrans" cxnId="{69492986-E9A8-48B2-A746-06EF880A20C2}">
      <dgm:prSet/>
      <dgm:spPr/>
      <dgm:t>
        <a:bodyPr/>
        <a:lstStyle/>
        <a:p>
          <a:endParaRPr lang="en-US"/>
        </a:p>
      </dgm:t>
    </dgm:pt>
    <dgm:pt modelId="{DD797486-C80D-46CC-B9D7-48CB33B5BDCA}" type="pres">
      <dgm:prSet presAssocID="{298BF5CA-026A-4C4A-8FBD-39510499F4B9}" presName="root" presStyleCnt="0">
        <dgm:presLayoutVars>
          <dgm:dir/>
          <dgm:resizeHandles val="exact"/>
        </dgm:presLayoutVars>
      </dgm:prSet>
      <dgm:spPr/>
    </dgm:pt>
    <dgm:pt modelId="{87326600-9D9F-47B2-A1BF-B116EFA4A842}" type="pres">
      <dgm:prSet presAssocID="{AB7BB1CF-FEE2-41C6-9127-47A6A4D1D60E}" presName="compNode" presStyleCnt="0"/>
      <dgm:spPr/>
    </dgm:pt>
    <dgm:pt modelId="{1DFEE864-AC7D-4705-8DF6-AF1484DB0183}" type="pres">
      <dgm:prSet presAssocID="{AB7BB1CF-FEE2-41C6-9127-47A6A4D1D60E}" presName="bgRect" presStyleLbl="bgShp" presStyleIdx="0" presStyleCnt="3"/>
      <dgm:spPr>
        <a:solidFill>
          <a:srgbClr val="0B0C12"/>
        </a:solidFill>
        <a:ln>
          <a:solidFill>
            <a:schemeClr val="tx1"/>
          </a:solidFill>
        </a:ln>
      </dgm:spPr>
    </dgm:pt>
    <dgm:pt modelId="{8857E13B-3EF9-4757-9B39-A9E803BF8747}" type="pres">
      <dgm:prSet presAssocID="{AB7BB1CF-FEE2-41C6-9127-47A6A4D1D60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solidFill>
            <a:schemeClr val="bg2"/>
          </a:solidFill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7F79F8CA-7D7D-45D5-80F3-8FEE17015690}" type="pres">
      <dgm:prSet presAssocID="{AB7BB1CF-FEE2-41C6-9127-47A6A4D1D60E}" presName="spaceRect" presStyleCnt="0"/>
      <dgm:spPr/>
    </dgm:pt>
    <dgm:pt modelId="{C17CA345-4603-4EBE-B2C3-B7D28F00EB22}" type="pres">
      <dgm:prSet presAssocID="{AB7BB1CF-FEE2-41C6-9127-47A6A4D1D60E}" presName="parTx" presStyleLbl="revTx" presStyleIdx="0" presStyleCnt="3">
        <dgm:presLayoutVars>
          <dgm:chMax val="0"/>
          <dgm:chPref val="0"/>
        </dgm:presLayoutVars>
      </dgm:prSet>
      <dgm:spPr/>
    </dgm:pt>
    <dgm:pt modelId="{D3399CE9-FA54-4BFC-B731-2AB65941A9F5}" type="pres">
      <dgm:prSet presAssocID="{3DC178BB-17AF-4E63-AC67-972225CE6986}" presName="sibTrans" presStyleCnt="0"/>
      <dgm:spPr/>
    </dgm:pt>
    <dgm:pt modelId="{1C51C01D-B323-4791-806D-397DA7081343}" type="pres">
      <dgm:prSet presAssocID="{B21388B4-2BF5-4879-A0A9-1AFAB7F4EBC7}" presName="compNode" presStyleCnt="0"/>
      <dgm:spPr/>
    </dgm:pt>
    <dgm:pt modelId="{7421D09D-770C-4F22-BF8A-51A856A48E74}" type="pres">
      <dgm:prSet presAssocID="{B21388B4-2BF5-4879-A0A9-1AFAB7F4EBC7}" presName="bgRect" presStyleLbl="bgShp" presStyleIdx="1" presStyleCnt="3"/>
      <dgm:spPr>
        <a:solidFill>
          <a:srgbClr val="0B0C12"/>
        </a:solidFill>
        <a:ln>
          <a:solidFill>
            <a:schemeClr val="tx1"/>
          </a:solidFill>
        </a:ln>
      </dgm:spPr>
    </dgm:pt>
    <dgm:pt modelId="{EFBC3D30-98BF-4B05-856D-846391CD9E55}" type="pres">
      <dgm:prSet presAssocID="{B21388B4-2BF5-4879-A0A9-1AFAB7F4EBC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solidFill>
            <a:schemeClr val="bg2"/>
          </a:solidFill>
        </a:ln>
      </dgm:spPr>
      <dgm:extLst>
        <a:ext uri="{E40237B7-FDA0-4F09-8148-C483321AD2D9}">
          <dgm14:cNvPr xmlns:dgm14="http://schemas.microsoft.com/office/drawing/2010/diagram" id="0" name="" descr="Telescope"/>
        </a:ext>
      </dgm:extLst>
    </dgm:pt>
    <dgm:pt modelId="{D6398E1D-0C62-4FEC-BD31-53F0110F9726}" type="pres">
      <dgm:prSet presAssocID="{B21388B4-2BF5-4879-A0A9-1AFAB7F4EBC7}" presName="spaceRect" presStyleCnt="0"/>
      <dgm:spPr/>
    </dgm:pt>
    <dgm:pt modelId="{BB7435A7-97F1-4C8D-A3D0-9F7772E0A00D}" type="pres">
      <dgm:prSet presAssocID="{B21388B4-2BF5-4879-A0A9-1AFAB7F4EBC7}" presName="parTx" presStyleLbl="revTx" presStyleIdx="1" presStyleCnt="3">
        <dgm:presLayoutVars>
          <dgm:chMax val="0"/>
          <dgm:chPref val="0"/>
        </dgm:presLayoutVars>
      </dgm:prSet>
      <dgm:spPr/>
    </dgm:pt>
    <dgm:pt modelId="{3D0A3479-930D-4DD9-B7F5-FB47579C8C4F}" type="pres">
      <dgm:prSet presAssocID="{E8A8F015-3C4D-471C-B1CF-3F57E2E8BEB3}" presName="sibTrans" presStyleCnt="0"/>
      <dgm:spPr/>
    </dgm:pt>
    <dgm:pt modelId="{5DF401D1-2723-41D7-8BD0-0996ADFA369B}" type="pres">
      <dgm:prSet presAssocID="{64E1D5B0-B20A-4064-80ED-C1DE53623A6A}" presName="compNode" presStyleCnt="0"/>
      <dgm:spPr/>
    </dgm:pt>
    <dgm:pt modelId="{A77C85DB-FEF4-4D37-9F86-D3495FDE8B14}" type="pres">
      <dgm:prSet presAssocID="{64E1D5B0-B20A-4064-80ED-C1DE53623A6A}" presName="bgRect" presStyleLbl="bgShp" presStyleIdx="2" presStyleCnt="3"/>
      <dgm:spPr>
        <a:solidFill>
          <a:srgbClr val="0B0C12"/>
        </a:solidFill>
        <a:ln>
          <a:solidFill>
            <a:schemeClr val="tx1"/>
          </a:solidFill>
        </a:ln>
      </dgm:spPr>
    </dgm:pt>
    <dgm:pt modelId="{B1DD3873-4AFF-4FE9-A49D-4CB18C323261}" type="pres">
      <dgm:prSet presAssocID="{64E1D5B0-B20A-4064-80ED-C1DE53623A6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solidFill>
            <a:schemeClr val="bg2"/>
          </a:solidFill>
        </a:ln>
      </dgm:spPr>
      <dgm:extLst>
        <a:ext uri="{E40237B7-FDA0-4F09-8148-C483321AD2D9}">
          <dgm14:cNvPr xmlns:dgm14="http://schemas.microsoft.com/office/drawing/2010/diagram" id="0" name="" descr="Briefcase"/>
        </a:ext>
      </dgm:extLst>
    </dgm:pt>
    <dgm:pt modelId="{CD9D524E-A618-4CB5-830D-8929B9A377F5}" type="pres">
      <dgm:prSet presAssocID="{64E1D5B0-B20A-4064-80ED-C1DE53623A6A}" presName="spaceRect" presStyleCnt="0"/>
      <dgm:spPr/>
    </dgm:pt>
    <dgm:pt modelId="{54D6AB02-D79D-47AE-9583-2994DE172C38}" type="pres">
      <dgm:prSet presAssocID="{64E1D5B0-B20A-4064-80ED-C1DE53623A6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A683806-2AC7-4227-8A0F-8C67CE0AAE59}" type="presOf" srcId="{64E1D5B0-B20A-4064-80ED-C1DE53623A6A}" destId="{54D6AB02-D79D-47AE-9583-2994DE172C38}" srcOrd="0" destOrd="0" presId="urn:microsoft.com/office/officeart/2018/2/layout/IconVerticalSolidList"/>
    <dgm:cxn modelId="{DC95C647-4341-4E03-A6E9-193C266081AF}" srcId="{298BF5CA-026A-4C4A-8FBD-39510499F4B9}" destId="{B21388B4-2BF5-4879-A0A9-1AFAB7F4EBC7}" srcOrd="1" destOrd="0" parTransId="{D42E57B0-3EE7-45D5-8418-3CCED033100D}" sibTransId="{E8A8F015-3C4D-471C-B1CF-3F57E2E8BEB3}"/>
    <dgm:cxn modelId="{69492986-E9A8-48B2-A746-06EF880A20C2}" srcId="{298BF5CA-026A-4C4A-8FBD-39510499F4B9}" destId="{64E1D5B0-B20A-4064-80ED-C1DE53623A6A}" srcOrd="2" destOrd="0" parTransId="{C39C775C-8543-4001-8761-4A53C909A753}" sibTransId="{5B361B1A-691F-48CC-9FDA-4B5B4DB4A161}"/>
    <dgm:cxn modelId="{86C3BABA-FB03-40CA-B001-836EC77EA70F}" type="presOf" srcId="{B21388B4-2BF5-4879-A0A9-1AFAB7F4EBC7}" destId="{BB7435A7-97F1-4C8D-A3D0-9F7772E0A00D}" srcOrd="0" destOrd="0" presId="urn:microsoft.com/office/officeart/2018/2/layout/IconVerticalSolidList"/>
    <dgm:cxn modelId="{4EA6C0BF-4A05-4F62-8E78-751E3B5661AA}" type="presOf" srcId="{AB7BB1CF-FEE2-41C6-9127-47A6A4D1D60E}" destId="{C17CA345-4603-4EBE-B2C3-B7D28F00EB22}" srcOrd="0" destOrd="0" presId="urn:microsoft.com/office/officeart/2018/2/layout/IconVerticalSolidList"/>
    <dgm:cxn modelId="{71967BCA-8AC7-450B-B826-2D11134EB72C}" srcId="{298BF5CA-026A-4C4A-8FBD-39510499F4B9}" destId="{AB7BB1CF-FEE2-41C6-9127-47A6A4D1D60E}" srcOrd="0" destOrd="0" parTransId="{D7637F74-BD4F-4B1D-8DCB-10FF95515778}" sibTransId="{3DC178BB-17AF-4E63-AC67-972225CE6986}"/>
    <dgm:cxn modelId="{BD9DBEEB-BADB-436E-ADA9-DFD9ECC0F1AA}" type="presOf" srcId="{298BF5CA-026A-4C4A-8FBD-39510499F4B9}" destId="{DD797486-C80D-46CC-B9D7-48CB33B5BDCA}" srcOrd="0" destOrd="0" presId="urn:microsoft.com/office/officeart/2018/2/layout/IconVerticalSolidList"/>
    <dgm:cxn modelId="{503A656F-7CA9-48CB-92E5-509B38D19AD2}" type="presParOf" srcId="{DD797486-C80D-46CC-B9D7-48CB33B5BDCA}" destId="{87326600-9D9F-47B2-A1BF-B116EFA4A842}" srcOrd="0" destOrd="0" presId="urn:microsoft.com/office/officeart/2018/2/layout/IconVerticalSolidList"/>
    <dgm:cxn modelId="{976F0704-FDB8-4F68-B271-50D3E1E8EA10}" type="presParOf" srcId="{87326600-9D9F-47B2-A1BF-B116EFA4A842}" destId="{1DFEE864-AC7D-4705-8DF6-AF1484DB0183}" srcOrd="0" destOrd="0" presId="urn:microsoft.com/office/officeart/2018/2/layout/IconVerticalSolidList"/>
    <dgm:cxn modelId="{25DD03ED-4578-48A5-9FD4-DA37129D6185}" type="presParOf" srcId="{87326600-9D9F-47B2-A1BF-B116EFA4A842}" destId="{8857E13B-3EF9-4757-9B39-A9E803BF8747}" srcOrd="1" destOrd="0" presId="urn:microsoft.com/office/officeart/2018/2/layout/IconVerticalSolidList"/>
    <dgm:cxn modelId="{0FC4B665-40E5-4842-B67B-E69C4E1B6604}" type="presParOf" srcId="{87326600-9D9F-47B2-A1BF-B116EFA4A842}" destId="{7F79F8CA-7D7D-45D5-80F3-8FEE17015690}" srcOrd="2" destOrd="0" presId="urn:microsoft.com/office/officeart/2018/2/layout/IconVerticalSolidList"/>
    <dgm:cxn modelId="{A4A4DE3B-FB7D-4B3A-AD78-60C4C6FF0D2A}" type="presParOf" srcId="{87326600-9D9F-47B2-A1BF-B116EFA4A842}" destId="{C17CA345-4603-4EBE-B2C3-B7D28F00EB22}" srcOrd="3" destOrd="0" presId="urn:microsoft.com/office/officeart/2018/2/layout/IconVerticalSolidList"/>
    <dgm:cxn modelId="{EDE92BF7-D9B6-49B9-A810-4DF3CCF252CB}" type="presParOf" srcId="{DD797486-C80D-46CC-B9D7-48CB33B5BDCA}" destId="{D3399CE9-FA54-4BFC-B731-2AB65941A9F5}" srcOrd="1" destOrd="0" presId="urn:microsoft.com/office/officeart/2018/2/layout/IconVerticalSolidList"/>
    <dgm:cxn modelId="{D36CB782-45CA-436C-8FCA-0D9B2C39216C}" type="presParOf" srcId="{DD797486-C80D-46CC-B9D7-48CB33B5BDCA}" destId="{1C51C01D-B323-4791-806D-397DA7081343}" srcOrd="2" destOrd="0" presId="urn:microsoft.com/office/officeart/2018/2/layout/IconVerticalSolidList"/>
    <dgm:cxn modelId="{09FB18D6-38E8-4187-9F03-C58FA3E2FE42}" type="presParOf" srcId="{1C51C01D-B323-4791-806D-397DA7081343}" destId="{7421D09D-770C-4F22-BF8A-51A856A48E74}" srcOrd="0" destOrd="0" presId="urn:microsoft.com/office/officeart/2018/2/layout/IconVerticalSolidList"/>
    <dgm:cxn modelId="{FC74B7E9-C5E0-407A-8D7F-AB7E8E979206}" type="presParOf" srcId="{1C51C01D-B323-4791-806D-397DA7081343}" destId="{EFBC3D30-98BF-4B05-856D-846391CD9E55}" srcOrd="1" destOrd="0" presId="urn:microsoft.com/office/officeart/2018/2/layout/IconVerticalSolidList"/>
    <dgm:cxn modelId="{492D4310-F314-41FB-AC1A-231081D56902}" type="presParOf" srcId="{1C51C01D-B323-4791-806D-397DA7081343}" destId="{D6398E1D-0C62-4FEC-BD31-53F0110F9726}" srcOrd="2" destOrd="0" presId="urn:microsoft.com/office/officeart/2018/2/layout/IconVerticalSolidList"/>
    <dgm:cxn modelId="{D2D37D66-07E5-4193-A7A1-D85ACE1ACE0A}" type="presParOf" srcId="{1C51C01D-B323-4791-806D-397DA7081343}" destId="{BB7435A7-97F1-4C8D-A3D0-9F7772E0A00D}" srcOrd="3" destOrd="0" presId="urn:microsoft.com/office/officeart/2018/2/layout/IconVerticalSolidList"/>
    <dgm:cxn modelId="{4A5F012D-C1E0-4FC1-8857-6849AE8B2196}" type="presParOf" srcId="{DD797486-C80D-46CC-B9D7-48CB33B5BDCA}" destId="{3D0A3479-930D-4DD9-B7F5-FB47579C8C4F}" srcOrd="3" destOrd="0" presId="urn:microsoft.com/office/officeart/2018/2/layout/IconVerticalSolidList"/>
    <dgm:cxn modelId="{ECAD79E5-6BB7-4385-9885-868353774330}" type="presParOf" srcId="{DD797486-C80D-46CC-B9D7-48CB33B5BDCA}" destId="{5DF401D1-2723-41D7-8BD0-0996ADFA369B}" srcOrd="4" destOrd="0" presId="urn:microsoft.com/office/officeart/2018/2/layout/IconVerticalSolidList"/>
    <dgm:cxn modelId="{B1954D58-09DF-4CDE-A0D8-A0137BD4702C}" type="presParOf" srcId="{5DF401D1-2723-41D7-8BD0-0996ADFA369B}" destId="{A77C85DB-FEF4-4D37-9F86-D3495FDE8B14}" srcOrd="0" destOrd="0" presId="urn:microsoft.com/office/officeart/2018/2/layout/IconVerticalSolidList"/>
    <dgm:cxn modelId="{4D8F06F8-94AC-4E0B-B8E3-CDDAEE66BDAA}" type="presParOf" srcId="{5DF401D1-2723-41D7-8BD0-0996ADFA369B}" destId="{B1DD3873-4AFF-4FE9-A49D-4CB18C323261}" srcOrd="1" destOrd="0" presId="urn:microsoft.com/office/officeart/2018/2/layout/IconVerticalSolidList"/>
    <dgm:cxn modelId="{B2764726-1FDB-4B43-A58A-136CB700D21E}" type="presParOf" srcId="{5DF401D1-2723-41D7-8BD0-0996ADFA369B}" destId="{CD9D524E-A618-4CB5-830D-8929B9A377F5}" srcOrd="2" destOrd="0" presId="urn:microsoft.com/office/officeart/2018/2/layout/IconVerticalSolidList"/>
    <dgm:cxn modelId="{3E97C911-ABD2-41BD-B674-5D35B4DC0955}" type="presParOf" srcId="{5DF401D1-2723-41D7-8BD0-0996ADFA369B}" destId="{54D6AB02-D79D-47AE-9583-2994DE172C3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FEE864-AC7D-4705-8DF6-AF1484DB0183}">
      <dsp:nvSpPr>
        <dsp:cNvPr id="0" name=""/>
        <dsp:cNvSpPr/>
      </dsp:nvSpPr>
      <dsp:spPr>
        <a:xfrm>
          <a:off x="0" y="535"/>
          <a:ext cx="11402568" cy="1253728"/>
        </a:xfrm>
        <a:prstGeom prst="roundRect">
          <a:avLst>
            <a:gd name="adj" fmla="val 10000"/>
          </a:avLst>
        </a:prstGeom>
        <a:solidFill>
          <a:srgbClr val="0B0C12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7E13B-3EF9-4757-9B39-A9E803BF8747}">
      <dsp:nvSpPr>
        <dsp:cNvPr id="0" name=""/>
        <dsp:cNvSpPr/>
      </dsp:nvSpPr>
      <dsp:spPr>
        <a:xfrm>
          <a:off x="379252" y="282624"/>
          <a:ext cx="689550" cy="6895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7CA345-4603-4EBE-B2C3-B7D28F00EB22}">
      <dsp:nvSpPr>
        <dsp:cNvPr id="0" name=""/>
        <dsp:cNvSpPr/>
      </dsp:nvSpPr>
      <dsp:spPr>
        <a:xfrm>
          <a:off x="1448055" y="535"/>
          <a:ext cx="9954512" cy="1253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86" tIns="132686" rIns="132686" bIns="13268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1"/>
              </a:solidFill>
            </a:rPr>
            <a:t>FOLLOW ANYTHING: choose your favorite tv shows, movies, video games, and more and keep up to date with all new releases with ease</a:t>
          </a:r>
        </a:p>
      </dsp:txBody>
      <dsp:txXfrm>
        <a:off x="1448055" y="535"/>
        <a:ext cx="9954512" cy="1253728"/>
      </dsp:txXfrm>
    </dsp:sp>
    <dsp:sp modelId="{7421D09D-770C-4F22-BF8A-51A856A48E74}">
      <dsp:nvSpPr>
        <dsp:cNvPr id="0" name=""/>
        <dsp:cNvSpPr/>
      </dsp:nvSpPr>
      <dsp:spPr>
        <a:xfrm>
          <a:off x="0" y="1567695"/>
          <a:ext cx="11402568" cy="1253728"/>
        </a:xfrm>
        <a:prstGeom prst="roundRect">
          <a:avLst>
            <a:gd name="adj" fmla="val 10000"/>
          </a:avLst>
        </a:prstGeom>
        <a:solidFill>
          <a:srgbClr val="0B0C12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BC3D30-98BF-4B05-856D-846391CD9E55}">
      <dsp:nvSpPr>
        <dsp:cNvPr id="0" name=""/>
        <dsp:cNvSpPr/>
      </dsp:nvSpPr>
      <dsp:spPr>
        <a:xfrm>
          <a:off x="379252" y="1849784"/>
          <a:ext cx="689550" cy="6895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7435A7-97F1-4C8D-A3D0-9F7772E0A00D}">
      <dsp:nvSpPr>
        <dsp:cNvPr id="0" name=""/>
        <dsp:cNvSpPr/>
      </dsp:nvSpPr>
      <dsp:spPr>
        <a:xfrm>
          <a:off x="1448055" y="1567695"/>
          <a:ext cx="9954512" cy="1253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86" tIns="132686" rIns="132686" bIns="13268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1"/>
              </a:solidFill>
            </a:rPr>
            <a:t>DISCOVER MORE: explore to see what’s new, or something you may have missed from years ago</a:t>
          </a:r>
        </a:p>
      </dsp:txBody>
      <dsp:txXfrm>
        <a:off x="1448055" y="1567695"/>
        <a:ext cx="9954512" cy="1253728"/>
      </dsp:txXfrm>
    </dsp:sp>
    <dsp:sp modelId="{A77C85DB-FEF4-4D37-9F86-D3495FDE8B14}">
      <dsp:nvSpPr>
        <dsp:cNvPr id="0" name=""/>
        <dsp:cNvSpPr/>
      </dsp:nvSpPr>
      <dsp:spPr>
        <a:xfrm>
          <a:off x="0" y="3134856"/>
          <a:ext cx="11402568" cy="1253728"/>
        </a:xfrm>
        <a:prstGeom prst="roundRect">
          <a:avLst>
            <a:gd name="adj" fmla="val 10000"/>
          </a:avLst>
        </a:prstGeom>
        <a:solidFill>
          <a:srgbClr val="0B0C12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DD3873-4AFF-4FE9-A49D-4CB18C323261}">
      <dsp:nvSpPr>
        <dsp:cNvPr id="0" name=""/>
        <dsp:cNvSpPr/>
      </dsp:nvSpPr>
      <dsp:spPr>
        <a:xfrm>
          <a:off x="379252" y="3416944"/>
          <a:ext cx="689550" cy="6895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D6AB02-D79D-47AE-9583-2994DE172C38}">
      <dsp:nvSpPr>
        <dsp:cNvPr id="0" name=""/>
        <dsp:cNvSpPr/>
      </dsp:nvSpPr>
      <dsp:spPr>
        <a:xfrm>
          <a:off x="1448055" y="3134856"/>
          <a:ext cx="9954512" cy="1253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686" tIns="132686" rIns="132686" bIns="13268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1"/>
              </a:solidFill>
            </a:rPr>
            <a:t>FORM YOUR DUGOUT: add any items to your watchlist and line up what you looking to do next</a:t>
          </a:r>
        </a:p>
      </dsp:txBody>
      <dsp:txXfrm>
        <a:off x="1448055" y="3134856"/>
        <a:ext cx="9954512" cy="12537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6FE89-E818-47F4-8451-E5577C95B5C1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1CC50-A15D-4751-811F-4D8ADDBE4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07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primarily social platforms focused on one specific niche. None can simply and effectively track upcoming and past releases across their individual media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1CC50-A15D-4751-811F-4D8ADDBE43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44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44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734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630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48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12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231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8540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3544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5873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18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000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88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91819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95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223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284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6205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70131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7946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66278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8862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1429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32665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8986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640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907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5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D31F0D8-39C5-4C77-A52E-168D3936379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3E129773-B9DE-4709-87BB-F6FA5365A79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9216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  <p:sldLayoutId id="2147483795" r:id="rId18"/>
    <p:sldLayoutId id="2147483796" r:id="rId19"/>
    <p:sldLayoutId id="2147483797" r:id="rId20"/>
    <p:sldLayoutId id="2147483798" r:id="rId21"/>
    <p:sldLayoutId id="2147483799" r:id="rId22"/>
    <p:sldLayoutId id="2147483800" r:id="rId23"/>
    <p:sldLayoutId id="2147483801" r:id="rId24"/>
    <p:sldLayoutId id="2147483802" r:id="rId25"/>
    <p:sldLayoutId id="2147483803" r:id="rId26"/>
    <p:sldLayoutId id="2147483804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666666666667,100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views.org/tv-service/streaming-habits/" TargetMode="External"/><Relationship Id="rId7" Type="http://schemas.openxmlformats.org/officeDocument/2006/relationships/hyperlink" Target="https://streamingbetter.com/streaming-services-complete-list/" TargetMode="External"/><Relationship Id="rId2" Type="http://schemas.openxmlformats.org/officeDocument/2006/relationships/hyperlink" Target="https://www.usertesting.com/resources/reports/stream-fatigue-goes-globa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orldmetrics.org/media-entertainment-industry-statistics/" TargetMode="External"/><Relationship Id="rId5" Type="http://schemas.openxmlformats.org/officeDocument/2006/relationships/hyperlink" Target="https://worthygamer.com/how-many-video-games-exist-in-total/" TargetMode="External"/><Relationship Id="rId4" Type="http://schemas.openxmlformats.org/officeDocument/2006/relationships/hyperlink" Target="https://systementcorp.com/lights-camera-action-how-many-movies-are-released-daily-around-the-worl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8ADD-5A95-DC7D-4480-37DCE843E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5032248" cy="1532976"/>
          </a:xfrm>
        </p:spPr>
        <p:txBody>
          <a:bodyPr anchor="t">
            <a:noAutofit/>
          </a:bodyPr>
          <a:lstStyle/>
          <a:p>
            <a:r>
              <a:rPr lang="en-US" sz="8000" b="1" dirty="0"/>
              <a:t>TRACK</a:t>
            </a:r>
            <a:r>
              <a:rPr lang="en-US" sz="8000" b="1" dirty="0">
                <a:solidFill>
                  <a:srgbClr val="7689EA"/>
                </a:solidFill>
              </a:rPr>
              <a:t>R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BD4E31CB-7872-C510-2CD9-2AB58BE3061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70" b="23170"/>
          <a:stretch>
            <a:fillRect/>
          </a:stretch>
        </p:blipFill>
        <p:spPr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5E9C0AD-18D4-6C3C-733E-F9C6D5D15C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399581" y="4282051"/>
            <a:ext cx="1792420" cy="1532976"/>
          </a:xfrm>
        </p:spPr>
        <p:txBody>
          <a:bodyPr>
            <a:normAutofit/>
          </a:bodyPr>
          <a:lstStyle/>
          <a:p>
            <a:r>
              <a:rPr lang="en-US" dirty="0"/>
              <a:t>JD Railsback</a:t>
            </a:r>
          </a:p>
        </p:txBody>
      </p:sp>
    </p:spTree>
    <p:extLst>
      <p:ext uri="{BB962C8B-B14F-4D97-AF65-F5344CB8AC3E}">
        <p14:creationId xmlns:p14="http://schemas.microsoft.com/office/powerpoint/2010/main" val="714033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A00E00-C367-ADDB-F470-130EDE3D0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>
            <a:normAutofit/>
          </a:bodyPr>
          <a:lstStyle/>
          <a:p>
            <a:r>
              <a:rPr lang="en-US" sz="3600" dirty="0"/>
              <a:t>Streaming Fatigue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F6C4D4-3A44-E6A1-150C-320DC78E78F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43% of Americans plan to cancel a streaming service in the next 3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average American spends 110 hours per year scrolling streaming services deciding what to watch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Daily media releases are growing exponentially: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~26 new films released every day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~14 episodes of television released every day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/>
              <a:t>~38 video game releases every 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of 2026 there are over 80 streaming services operating in the US</a:t>
            </a:r>
          </a:p>
        </p:txBody>
      </p:sp>
      <p:pic>
        <p:nvPicPr>
          <p:cNvPr id="6" name="Picture 5" descr="Stream Fatigue? Americans Spent 23% Less on Streaming Services in 2024,  Study Finds : r/cordcutters">
            <a:extLst>
              <a:ext uri="{FF2B5EF4-FFF2-40B4-BE49-F238E27FC236}">
                <a16:creationId xmlns:a16="http://schemas.microsoft.com/office/drawing/2014/main" id="{6100079C-ABDB-3CBE-68A6-9B63E259A7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549" r="20951"/>
          <a:stretch>
            <a:fillRect/>
          </a:stretch>
        </p:blipFill>
        <p:spPr>
          <a:xfrm>
            <a:off x="7620000" y="10"/>
            <a:ext cx="457200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93483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CEFBAC-5323-3997-75B7-D3EECDAE2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Existing Solutions</a:t>
            </a:r>
          </a:p>
        </p:txBody>
      </p:sp>
      <p:pic>
        <p:nvPicPr>
          <p:cNvPr id="6" name="Picture 5" descr="Letterboxd announces a curated, limited-run rental service | The Verge">
            <a:extLst>
              <a:ext uri="{FF2B5EF4-FFF2-40B4-BE49-F238E27FC236}">
                <a16:creationId xmlns:a16="http://schemas.microsoft.com/office/drawing/2014/main" id="{7A4E4163-073B-74DC-58AD-68F1BE634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168" y="1969712"/>
            <a:ext cx="2568136" cy="2594848"/>
          </a:xfrm>
          <a:prstGeom prst="rect">
            <a:avLst/>
          </a:prstGeom>
        </p:spPr>
      </p:pic>
      <p:pic>
        <p:nvPicPr>
          <p:cNvPr id="7" name="Picture 6" descr="Serializd | Track all things TV">
            <a:extLst>
              <a:ext uri="{FF2B5EF4-FFF2-40B4-BE49-F238E27FC236}">
                <a16:creationId xmlns:a16="http://schemas.microsoft.com/office/drawing/2014/main" id="{C68172F7-7234-9E4D-C786-E57A5C088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615" y="3435847"/>
            <a:ext cx="2257425" cy="2257425"/>
          </a:xfrm>
          <a:prstGeom prst="rect">
            <a:avLst/>
          </a:prstGeom>
        </p:spPr>
      </p:pic>
      <p:pic>
        <p:nvPicPr>
          <p:cNvPr id="8" name="Picture 7" descr="Backloggd (Games Dataset)">
            <a:extLst>
              <a:ext uri="{FF2B5EF4-FFF2-40B4-BE49-F238E27FC236}">
                <a16:creationId xmlns:a16="http://schemas.microsoft.com/office/drawing/2014/main" id="{90C974D4-8979-71A9-0B58-69A90E22A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0912" y="1357343"/>
            <a:ext cx="3795713" cy="19097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3CAC7E-A84D-4508-8541-C05D0BDAA12B}"/>
              </a:ext>
            </a:extLst>
          </p:cNvPr>
          <p:cNvSpPr txBox="1"/>
          <p:nvPr/>
        </p:nvSpPr>
        <p:spPr>
          <a:xfrm>
            <a:off x="1849576" y="4564559"/>
            <a:ext cx="883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C90AB9-9898-FA9A-08EA-C1592B4D03C7}"/>
              </a:ext>
            </a:extLst>
          </p:cNvPr>
          <p:cNvSpPr txBox="1"/>
          <p:nvPr/>
        </p:nvSpPr>
        <p:spPr>
          <a:xfrm>
            <a:off x="5124056" y="5693272"/>
            <a:ext cx="1176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TV Shows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90C98C-2374-74D6-2A44-F8EB89B67D6A}"/>
              </a:ext>
            </a:extLst>
          </p:cNvPr>
          <p:cNvSpPr txBox="1"/>
          <p:nvPr/>
        </p:nvSpPr>
        <p:spPr>
          <a:xfrm>
            <a:off x="8442343" y="3269864"/>
            <a:ext cx="1512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Video Games</a:t>
            </a:r>
          </a:p>
        </p:txBody>
      </p:sp>
    </p:spTree>
    <p:extLst>
      <p:ext uri="{BB962C8B-B14F-4D97-AF65-F5344CB8AC3E}">
        <p14:creationId xmlns:p14="http://schemas.microsoft.com/office/powerpoint/2010/main" val="1544920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C5B856-A46F-C6FF-5423-66FB7A847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Multifunctional tracking platform for staying up to date with releases across different media types.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2C86D1-F875-81BA-3191-37B5CC2F687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9600" b="1" dirty="0"/>
              <a:t>TRACK</a:t>
            </a:r>
            <a:r>
              <a:rPr lang="en-US" sz="9600" b="1" dirty="0">
                <a:solidFill>
                  <a:srgbClr val="7689EA"/>
                </a:solidFill>
              </a:rPr>
              <a:t>R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1635869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BDF1C-6F0C-9506-E8B6-B4C5C2FDF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Compliment, not Competition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D21AF-CEEF-6F4B-7619-95C09F2FA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Trackr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C0A33-C56B-784B-F8F4-8ABACB07474A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Tracking what you want to watch next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Multiple media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Notifications for new releases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Can be used alongside other social platforms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0D72AB-82DA-C189-C6DC-34D2A1143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Letterboxd and Others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D8094-A248-C70D-66FF-90A926945558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Tracking what you’ve already watched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Focus on one media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 way to track new releases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Media tracking as a social media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07956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010EC-0823-638A-A54B-085573D0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/>
          <a:p>
            <a:r>
              <a:rPr lang="en-US" sz="4000" dirty="0"/>
              <a:t>Primary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1F8C0C-DC36-12BC-CB0E-02376481E29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066573651"/>
              </p:ext>
            </p:extLst>
          </p:nvPr>
        </p:nvGraphicFramePr>
        <p:xfrm>
          <a:off x="301752" y="2011680"/>
          <a:ext cx="11402568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3559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BDB4-FBB3-5E4E-871F-18ADDC930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Business Model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866AA53-AF0F-D8E5-1920-897F46931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Free Tier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F4948EB-F8E8-F5D1-7C93-1CF2B021E89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587753"/>
            <a:ext cx="5165725" cy="380511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Access to basic tracking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Full discover page access to track any media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Ability to view calendar page on site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9473856-1FC8-4BD6-73EB-6F08A1A9D4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Paid Tier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5ACCA10-3A2B-F833-4ADC-9FD5871BB41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587753"/>
            <a:ext cx="5181907" cy="380511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Access to all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Customizable notifications for any media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Ability to sync calendar with other apps like Apple, Google, Outlook,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Access to the “Dugout”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Profile customization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A8EB60-0D3B-F948-7917-2751D9B736FD}"/>
              </a:ext>
            </a:extLst>
          </p:cNvPr>
          <p:cNvSpPr txBox="1"/>
          <p:nvPr/>
        </p:nvSpPr>
        <p:spPr>
          <a:xfrm>
            <a:off x="4142232" y="1864984"/>
            <a:ext cx="2487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$0/year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6950EF-C8AA-BF60-72E3-39E7A7C70C0A}"/>
              </a:ext>
            </a:extLst>
          </p:cNvPr>
          <p:cNvSpPr txBox="1"/>
          <p:nvPr/>
        </p:nvSpPr>
        <p:spPr>
          <a:xfrm>
            <a:off x="10469880" y="1836348"/>
            <a:ext cx="2487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$10/year</a:t>
            </a:r>
          </a:p>
        </p:txBody>
      </p:sp>
    </p:spTree>
    <p:extLst>
      <p:ext uri="{BB962C8B-B14F-4D97-AF65-F5344CB8AC3E}">
        <p14:creationId xmlns:p14="http://schemas.microsoft.com/office/powerpoint/2010/main" val="2513515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F2B7-2ACF-AE2F-49BB-9F647CDFA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1578102"/>
            <a:ext cx="7498080" cy="1106424"/>
          </a:xfrm>
        </p:spPr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FB133F-2387-42F7-48F8-0ED78ED45F46}"/>
              </a:ext>
            </a:extLst>
          </p:cNvPr>
          <p:cNvSpPr/>
          <p:nvPr/>
        </p:nvSpPr>
        <p:spPr>
          <a:xfrm>
            <a:off x="5772912" y="530352"/>
            <a:ext cx="5736336" cy="13898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Finalize release date pipeline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App Store launch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Initial paid tier at $5/lifetime for early users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0E9EED-EB3F-446D-9BA6-D9B59BFD0B63}"/>
              </a:ext>
            </a:extLst>
          </p:cNvPr>
          <p:cNvSpPr/>
          <p:nvPr/>
        </p:nvSpPr>
        <p:spPr>
          <a:xfrm>
            <a:off x="5772912" y="2484120"/>
            <a:ext cx="5736336" cy="11064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Implement personalized 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Expand media types (books, live events,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Strengthen infrastructure for larger userbase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6D8C91-388D-951A-647D-6A5FADBDA29F}"/>
              </a:ext>
            </a:extLst>
          </p:cNvPr>
          <p:cNvSpPr/>
          <p:nvPr/>
        </p:nvSpPr>
        <p:spPr>
          <a:xfrm>
            <a:off x="5772912" y="4154424"/>
            <a:ext cx="5736336" cy="13898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Seek out direct data partnerships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Embeddable release-calendar widget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Explore affiliate revenue for storefront links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C505AC-0223-C127-BF84-5DF94E10BB1A}"/>
              </a:ext>
            </a:extLst>
          </p:cNvPr>
          <p:cNvSpPr txBox="1"/>
          <p:nvPr/>
        </p:nvSpPr>
        <p:spPr>
          <a:xfrm>
            <a:off x="4050791" y="976175"/>
            <a:ext cx="202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Short-term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22B8CB-8630-6AC1-CFD5-CE5360763C35}"/>
              </a:ext>
            </a:extLst>
          </p:cNvPr>
          <p:cNvSpPr txBox="1"/>
          <p:nvPr/>
        </p:nvSpPr>
        <p:spPr>
          <a:xfrm>
            <a:off x="4066032" y="2806499"/>
            <a:ext cx="202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Mid-term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E092C5-BB83-FB52-C83B-8B06D8DCB1E0}"/>
              </a:ext>
            </a:extLst>
          </p:cNvPr>
          <p:cNvSpPr txBox="1"/>
          <p:nvPr/>
        </p:nvSpPr>
        <p:spPr>
          <a:xfrm>
            <a:off x="4066032" y="4618535"/>
            <a:ext cx="2029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Long-term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C8D94CF0-3024-70EB-0D2D-B61400EF13E3}"/>
              </a:ext>
            </a:extLst>
          </p:cNvPr>
          <p:cNvSpPr/>
          <p:nvPr/>
        </p:nvSpPr>
        <p:spPr>
          <a:xfrm>
            <a:off x="8471916" y="2069592"/>
            <a:ext cx="338328" cy="265176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6A00D220-69CD-BD2F-6C91-EB666C98C0AE}"/>
              </a:ext>
            </a:extLst>
          </p:cNvPr>
          <p:cNvSpPr/>
          <p:nvPr/>
        </p:nvSpPr>
        <p:spPr>
          <a:xfrm>
            <a:off x="8471916" y="3742944"/>
            <a:ext cx="338328" cy="265176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79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3AAF7-AA83-C46C-5B40-3C886D2C1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B0BC-F208-466E-ED95-76A6A98D03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Streaming Media Survey: Viewers Can't Find What To Watch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Streaming Fatigue Report 2026: How Price Hikes Are Changing the Way Americans Watch TV | Reviews.org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Lights, Camera, Action— How Many Movies Are Released Daily Around the World? - System Ent Corp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How Many Video Games Exist in Total? – </a:t>
            </a:r>
            <a:r>
              <a:rPr lang="en-US" dirty="0" err="1">
                <a:hlinkClick r:id="rId5"/>
              </a:rPr>
              <a:t>WorthyGamer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6"/>
              </a:rPr>
              <a:t>Media Entertainment Industry Statistics 2026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7"/>
              </a:rPr>
              <a:t>How Many Streaming Services Are There? Here's a List | Streaming Better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196600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390</TotalTime>
  <Words>449</Words>
  <Application>Microsoft Office PowerPoint</Application>
  <PresentationFormat>Widescreen</PresentationFormat>
  <Paragraphs>66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Arial Nova Light</vt:lpstr>
      <vt:lpstr>Dark Gradient</vt:lpstr>
      <vt:lpstr>TRACKR</vt:lpstr>
      <vt:lpstr>Streaming Fatigue</vt:lpstr>
      <vt:lpstr>Existing Solutions</vt:lpstr>
      <vt:lpstr>  Multifunctional tracking platform for staying up to date with releases across different media types.</vt:lpstr>
      <vt:lpstr>Compliment, not Competition</vt:lpstr>
      <vt:lpstr>Primary Features</vt:lpstr>
      <vt:lpstr>Business Model</vt:lpstr>
      <vt:lpstr>Roadmap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JD Railsback</dc:creator>
  <cp:lastModifiedBy>JD Railsback</cp:lastModifiedBy>
  <cp:revision>4</cp:revision>
  <dcterms:created xsi:type="dcterms:W3CDTF">2026-08-03T17:11:54Z</dcterms:created>
  <dcterms:modified xsi:type="dcterms:W3CDTF">2026-08-10T18:00:35Z</dcterms:modified>
</cp:coreProperties>
</file>